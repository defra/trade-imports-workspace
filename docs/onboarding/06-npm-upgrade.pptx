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2E5077"/>
          </a:solidFill>
          <a:ln/>
        </p:spPr>
      </p:sp>
      <p:sp>
        <p:nvSpPr>
          <p:cNvPr id="3" name="Text 1"/>
          <p:cNvSpPr/>
          <p:nvPr/>
        </p:nvSpPr>
        <p:spPr>
          <a:xfrm>
            <a:off x="1005840" y="1417320"/>
            <a:ext cx="9144000" cy="365760"/>
          </a:xfrm>
          <a:prstGeom prst="rect">
            <a:avLst/>
          </a:prstGeom>
          <a:noFill/>
          <a:ln/>
        </p:spPr>
        <p:txBody>
          <a:bodyPr wrap="square" lIns="0" tIns="0" rIns="0" bIns="0" rtlCol="0" anchor="ctr"/>
          <a:lstStyle/>
          <a:p>
            <a:pPr indent="0" marL="0">
              <a:buNone/>
            </a:pPr>
            <a:r>
              <a:rPr lang="en-US" sz="1400" b="1" spc="300" kern="0" dirty="0">
                <a:solidFill>
                  <a:srgbClr val="2E5077"/>
                </a:solidFill>
                <a:latin typeface="Arial" pitchFamily="34" charset="0"/>
                <a:ea typeface="Arial" pitchFamily="34" charset="-122"/>
                <a:cs typeface="Arial" pitchFamily="34" charset="-120"/>
              </a:rPr>
              <a:t>TRADE-IMPORTS WORKSPACE ONBOARDING</a:t>
            </a:r>
            <a:endParaRPr lang="en-US" sz="1400" dirty="0"/>
          </a:p>
        </p:txBody>
      </p:sp>
      <p:sp>
        <p:nvSpPr>
          <p:cNvPr id="4" name="Text 2"/>
          <p:cNvSpPr/>
          <p:nvPr/>
        </p:nvSpPr>
        <p:spPr>
          <a:xfrm>
            <a:off x="960120" y="1874520"/>
            <a:ext cx="10058400" cy="640080"/>
          </a:xfrm>
          <a:prstGeom prst="rect">
            <a:avLst/>
          </a:prstGeom>
          <a:noFill/>
          <a:ln/>
        </p:spPr>
        <p:txBody>
          <a:bodyPr wrap="square" lIns="0" tIns="0" rIns="0" bIns="0" rtlCol="0" anchor="ctr"/>
          <a:lstStyle/>
          <a:p>
            <a:pPr indent="0" marL="0">
              <a:buNone/>
            </a:pPr>
            <a:r>
              <a:rPr lang="en-US" sz="2400" b="1" dirty="0">
                <a:solidFill>
                  <a:srgbClr val="64748B"/>
                </a:solidFill>
                <a:latin typeface="Arial" pitchFamily="34" charset="0"/>
                <a:ea typeface="Arial" pitchFamily="34" charset="-122"/>
                <a:cs typeface="Arial" pitchFamily="34" charset="-120"/>
              </a:rPr>
              <a:t>Session 6</a:t>
            </a:r>
            <a:endParaRPr lang="en-US" sz="2400" dirty="0"/>
          </a:p>
        </p:txBody>
      </p:sp>
      <p:sp>
        <p:nvSpPr>
          <p:cNvPr id="5" name="Text 3"/>
          <p:cNvSpPr/>
          <p:nvPr/>
        </p:nvSpPr>
        <p:spPr>
          <a:xfrm>
            <a:off x="914400" y="2468880"/>
            <a:ext cx="10607040" cy="1097280"/>
          </a:xfrm>
          <a:prstGeom prst="rect">
            <a:avLst/>
          </a:prstGeom>
          <a:noFill/>
          <a:ln/>
        </p:spPr>
        <p:txBody>
          <a:bodyPr wrap="square" lIns="0" tIns="0" rIns="0" bIns="0" rtlCol="0" anchor="ctr"/>
          <a:lstStyle/>
          <a:p>
            <a:pPr indent="0" marL="0">
              <a:buNone/>
            </a:pPr>
            <a:r>
              <a:rPr lang="en-US" sz="5200" b="1" dirty="0">
                <a:solidFill>
                  <a:srgbClr val="22405F"/>
                </a:solidFill>
                <a:latin typeface="Courier New" pitchFamily="34" charset="0"/>
                <a:ea typeface="Courier New" pitchFamily="34" charset="-122"/>
                <a:cs typeface="Courier New" pitchFamily="34" charset="-120"/>
              </a:rPr>
              <a:t>npm-upgrade</a:t>
            </a:r>
            <a:endParaRPr lang="en-US" sz="5200" dirty="0"/>
          </a:p>
        </p:txBody>
      </p:sp>
      <p:sp>
        <p:nvSpPr>
          <p:cNvPr id="6" name="Text 4"/>
          <p:cNvSpPr/>
          <p:nvPr/>
        </p:nvSpPr>
        <p:spPr>
          <a:xfrm>
            <a:off x="960120" y="4114800"/>
            <a:ext cx="9875520" cy="1097280"/>
          </a:xfrm>
          <a:prstGeom prst="rect">
            <a:avLst/>
          </a:prstGeom>
          <a:noFill/>
          <a:ln/>
        </p:spPr>
        <p:txBody>
          <a:bodyPr wrap="square" lIns="0" tIns="0" rIns="0" bIns="0" rtlCol="0" anchor="ctr"/>
          <a:lstStyle/>
          <a:p>
            <a:pPr indent="0" marL="0">
              <a:buNone/>
            </a:pPr>
            <a:r>
              <a:rPr lang="en-US" sz="1800" i="1" dirty="0">
                <a:solidFill>
                  <a:srgbClr val="0F172A"/>
                </a:solidFill>
                <a:latin typeface="Arial" pitchFamily="34" charset="0"/>
                <a:ea typeface="Arial" pitchFamily="34" charset="-122"/>
                <a:cs typeface="Arial" pitchFamily="34" charset="-120"/>
              </a:rPr>
              <a:t>Bring non-govuk npm dependencies up to date across the repos — safe bumps automated, breaking ones walked.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IT'S FOR</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Safe bumps automated, breaking ones walked</a:t>
            </a:r>
            <a:endParaRPr lang="en-US" sz="2900" dirty="0"/>
          </a:p>
        </p:txBody>
      </p:sp>
      <p:sp>
        <p:nvSpPr>
          <p:cNvPr id="5" name="Text 3"/>
          <p:cNvSpPr/>
          <p:nvPr/>
        </p:nvSpPr>
        <p:spPr>
          <a:xfrm>
            <a:off x="640080" y="1554480"/>
            <a:ext cx="10789920" cy="2377440"/>
          </a:xfrm>
          <a:prstGeom prst="rect">
            <a:avLst/>
          </a:prstGeom>
          <a:noFill/>
          <a:ln/>
        </p:spPr>
        <p:txBody>
          <a:bodyPr wrap="square" lIns="0" tIns="0" rIns="0" bIns="0" rtlCol="0" anchor="t"/>
          <a:lstStyle/>
          <a:p>
            <a:pPr indent="0" marL="0">
              <a:spcAft>
                <a:spcPts val="1200"/>
              </a:spcAft>
              <a:buNone/>
            </a:pPr>
            <a:r>
              <a:rPr lang="en-US" sz="1550" dirty="0">
                <a:solidFill>
                  <a:srgbClr val="0F172A"/>
                </a:solidFill>
                <a:latin typeface="Arial" pitchFamily="34" charset="0"/>
                <a:ea typeface="Arial" pitchFamily="34" charset="-122"/>
                <a:cs typeface="Arial" pitchFamily="34" charset="-120"/>
              </a:rPr>
              <a:t>Keeping dependencies current is one of those jobs that's individually small and collectively miserable: find what's outdated across the repos, work out which bumps are safe and which will break, run the tests, and don't lose your place when one of them blows up halfway.</a:t>
            </a:r>
            <a:endParaRPr lang="en-US" sz="1550" dirty="0"/>
          </a:p>
          <a:p>
            <a:pPr indent="0" marL="0">
              <a:spcAft>
                <a:spcPts val="1200"/>
              </a:spcAft>
              <a:buNone/>
            </a:pPr>
            <a:r>
              <a:rPr lang="en-US" sz="1550" dirty="0">
                <a:solidFill>
                  <a:srgbClr val="0F172A"/>
                </a:solidFill>
                <a:latin typeface="Arial" pitchFamily="34" charset="0"/>
                <a:ea typeface="Arial" pitchFamily="34" charset="-122"/>
                <a:cs typeface="Arial" pitchFamily="34" charset="-120"/>
              </a:rPr>
              <a:t>npm-upgrade does the safe, mechanical bumps for you — install, test, commit, roll back on failure — and triages the rest, so the only upgrades that reach your desk are the ones that genuinely need a human. Everything stays local until you're happy.</a:t>
            </a:r>
            <a:endParaRPr lang="en-US" sz="1550" dirty="0"/>
          </a:p>
        </p:txBody>
      </p:sp>
      <p:sp>
        <p:nvSpPr>
          <p:cNvPr id="6" name="Text 4"/>
          <p:cNvSpPr/>
          <p:nvPr/>
        </p:nvSpPr>
        <p:spPr>
          <a:xfrm>
            <a:off x="640080" y="411480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YOU GET</a:t>
            </a:r>
            <a:endParaRPr lang="en-US" sz="1200" dirty="0"/>
          </a:p>
        </p:txBody>
      </p:sp>
      <p:sp>
        <p:nvSpPr>
          <p:cNvPr id="7" name="Shape 5"/>
          <p:cNvSpPr/>
          <p:nvPr/>
        </p:nvSpPr>
        <p:spPr>
          <a:xfrm>
            <a:off x="640080" y="4480560"/>
            <a:ext cx="3459480" cy="1645920"/>
          </a:xfrm>
          <a:prstGeom prst="rect">
            <a:avLst/>
          </a:prstGeom>
          <a:solidFill>
            <a:srgbClr val="F1F5F9"/>
          </a:solidFill>
          <a:ln/>
        </p:spPr>
      </p:sp>
      <p:sp>
        <p:nvSpPr>
          <p:cNvPr id="8" name="Shape 6"/>
          <p:cNvSpPr/>
          <p:nvPr/>
        </p:nvSpPr>
        <p:spPr>
          <a:xfrm>
            <a:off x="640080" y="4480560"/>
            <a:ext cx="3459480" cy="82296"/>
          </a:xfrm>
          <a:prstGeom prst="rect">
            <a:avLst/>
          </a:prstGeom>
          <a:solidFill>
            <a:srgbClr val="2E5077"/>
          </a:solidFill>
          <a:ln/>
        </p:spPr>
      </p:sp>
      <p:sp>
        <p:nvSpPr>
          <p:cNvPr id="9" name="Text 7"/>
          <p:cNvSpPr/>
          <p:nvPr/>
        </p:nvSpPr>
        <p:spPr>
          <a:xfrm>
            <a:off x="8686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The boring bumps, automated</a:t>
            </a:r>
            <a:endParaRPr lang="en-US" sz="1450" dirty="0"/>
          </a:p>
        </p:txBody>
      </p:sp>
      <p:sp>
        <p:nvSpPr>
          <p:cNvPr id="10" name="Text 8"/>
          <p:cNvSpPr/>
          <p:nvPr/>
        </p:nvSpPr>
        <p:spPr>
          <a:xfrm>
            <a:off x="8686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safe upgrades installed, tested and committed for you</a:t>
            </a:r>
            <a:endParaRPr lang="en-US" sz="1150" dirty="0"/>
          </a:p>
        </p:txBody>
      </p:sp>
      <p:sp>
        <p:nvSpPr>
          <p:cNvPr id="11" name="Shape 9"/>
          <p:cNvSpPr/>
          <p:nvPr/>
        </p:nvSpPr>
        <p:spPr>
          <a:xfrm>
            <a:off x="4373880" y="4480560"/>
            <a:ext cx="3459480" cy="1645920"/>
          </a:xfrm>
          <a:prstGeom prst="rect">
            <a:avLst/>
          </a:prstGeom>
          <a:solidFill>
            <a:srgbClr val="F1F5F9"/>
          </a:solidFill>
          <a:ln/>
        </p:spPr>
      </p:sp>
      <p:sp>
        <p:nvSpPr>
          <p:cNvPr id="12" name="Shape 10"/>
          <p:cNvSpPr/>
          <p:nvPr/>
        </p:nvSpPr>
        <p:spPr>
          <a:xfrm>
            <a:off x="4373880" y="4480560"/>
            <a:ext cx="3459480" cy="82296"/>
          </a:xfrm>
          <a:prstGeom prst="rect">
            <a:avLst/>
          </a:prstGeom>
          <a:solidFill>
            <a:srgbClr val="2E5077"/>
          </a:solidFill>
          <a:ln/>
        </p:spPr>
      </p:sp>
      <p:sp>
        <p:nvSpPr>
          <p:cNvPr id="13" name="Text 11"/>
          <p:cNvSpPr/>
          <p:nvPr/>
        </p:nvSpPr>
        <p:spPr>
          <a:xfrm>
            <a:off x="46024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Breaking ones triaged</a:t>
            </a:r>
            <a:endParaRPr lang="en-US" sz="1450" dirty="0"/>
          </a:p>
        </p:txBody>
      </p:sp>
      <p:sp>
        <p:nvSpPr>
          <p:cNvPr id="14" name="Text 12"/>
          <p:cNvSpPr/>
          <p:nvPr/>
        </p:nvSpPr>
        <p:spPr>
          <a:xfrm>
            <a:off x="46024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you only handle what actually needs judgment</a:t>
            </a:r>
            <a:endParaRPr lang="en-US" sz="1150" dirty="0"/>
          </a:p>
        </p:txBody>
      </p:sp>
      <p:sp>
        <p:nvSpPr>
          <p:cNvPr id="15" name="Shape 13"/>
          <p:cNvSpPr/>
          <p:nvPr/>
        </p:nvSpPr>
        <p:spPr>
          <a:xfrm>
            <a:off x="8107680" y="4480560"/>
            <a:ext cx="3459480" cy="1645920"/>
          </a:xfrm>
          <a:prstGeom prst="rect">
            <a:avLst/>
          </a:prstGeom>
          <a:solidFill>
            <a:srgbClr val="F1F5F9"/>
          </a:solidFill>
          <a:ln/>
        </p:spPr>
      </p:sp>
      <p:sp>
        <p:nvSpPr>
          <p:cNvPr id="16" name="Shape 14"/>
          <p:cNvSpPr/>
          <p:nvPr/>
        </p:nvSpPr>
        <p:spPr>
          <a:xfrm>
            <a:off x="8107680" y="4480560"/>
            <a:ext cx="3459480" cy="82296"/>
          </a:xfrm>
          <a:prstGeom prst="rect">
            <a:avLst/>
          </a:prstGeom>
          <a:solidFill>
            <a:srgbClr val="2E5077"/>
          </a:solidFill>
          <a:ln/>
        </p:spPr>
      </p:sp>
      <p:sp>
        <p:nvSpPr>
          <p:cNvPr id="17" name="Text 15"/>
          <p:cNvSpPr/>
          <p:nvPr/>
        </p:nvSpPr>
        <p:spPr>
          <a:xfrm>
            <a:off x="83362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Nothing lost or pushed</a:t>
            </a:r>
            <a:endParaRPr lang="en-US" sz="1450" dirty="0"/>
          </a:p>
        </p:txBody>
      </p:sp>
      <p:sp>
        <p:nvSpPr>
          <p:cNvPr id="18" name="Text 16"/>
          <p:cNvSpPr/>
          <p:nvPr/>
        </p:nvSpPr>
        <p:spPr>
          <a:xfrm>
            <a:off x="83362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failures roll back; commits stay local for your review</a:t>
            </a:r>
            <a:endParaRPr lang="en-US" sz="115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Shape 1"/>
          <p:cNvSpPr/>
          <p:nvPr/>
        </p:nvSpPr>
        <p:spPr>
          <a:xfrm>
            <a:off x="640080" y="502920"/>
            <a:ext cx="1691640" cy="384048"/>
          </a:xfrm>
          <a:prstGeom prst="rect">
            <a:avLst/>
          </a:prstGeom>
          <a:solidFill>
            <a:srgbClr val="2E5077"/>
          </a:solidFill>
          <a:ln/>
        </p:spPr>
      </p:sp>
      <p:sp>
        <p:nvSpPr>
          <p:cNvPr id="4" name="Text 2"/>
          <p:cNvSpPr/>
          <p:nvPr/>
        </p:nvSpPr>
        <p:spPr>
          <a:xfrm>
            <a:off x="640080" y="502920"/>
            <a:ext cx="169164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LIVE VIEW</a:t>
            </a:r>
            <a:endParaRPr lang="en-US" sz="1200" dirty="0"/>
          </a:p>
        </p:txBody>
      </p:sp>
      <p:sp>
        <p:nvSpPr>
          <p:cNvPr id="5" name="Text 3"/>
          <p:cNvSpPr/>
          <p:nvPr/>
        </p:nvSpPr>
        <p:spPr>
          <a:xfrm>
            <a:off x="640080" y="10058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Don't memorise — read the current truth</a:t>
            </a:r>
            <a:endParaRPr lang="en-US" sz="2900" dirty="0"/>
          </a:p>
        </p:txBody>
      </p:sp>
      <p:sp>
        <p:nvSpPr>
          <p:cNvPr id="6" name="Shape 4"/>
          <p:cNvSpPr/>
          <p:nvPr/>
        </p:nvSpPr>
        <p:spPr>
          <a:xfrm>
            <a:off x="640080" y="2148840"/>
            <a:ext cx="10927080" cy="914400"/>
          </a:xfrm>
          <a:prstGeom prst="rect">
            <a:avLst/>
          </a:prstGeom>
          <a:solidFill>
            <a:srgbClr val="EAEFF5"/>
          </a:solidFill>
          <a:ln/>
        </p:spPr>
      </p:sp>
      <p:sp>
        <p:nvSpPr>
          <p:cNvPr id="7" name="Shape 5"/>
          <p:cNvSpPr/>
          <p:nvPr/>
        </p:nvSpPr>
        <p:spPr>
          <a:xfrm>
            <a:off x="640080" y="2148840"/>
            <a:ext cx="82296" cy="914400"/>
          </a:xfrm>
          <a:prstGeom prst="rect">
            <a:avLst/>
          </a:prstGeom>
          <a:solidFill>
            <a:srgbClr val="2E5077"/>
          </a:solidFill>
          <a:ln/>
        </p:spPr>
      </p:sp>
      <p:sp>
        <p:nvSpPr>
          <p:cNvPr id="8" name="Text 6"/>
          <p:cNvSpPr/>
          <p:nvPr/>
        </p:nvSpPr>
        <p:spPr>
          <a:xfrm>
            <a:off x="960120" y="214884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upgrade npm deps · walk upgrade</a:t>
            </a:r>
            <a:endParaRPr lang="en-US" sz="1400" dirty="0"/>
          </a:p>
        </p:txBody>
      </p:sp>
      <p:sp>
        <p:nvSpPr>
          <p:cNvPr id="9" name="Text 7"/>
          <p:cNvSpPr/>
          <p:nvPr/>
        </p:nvSpPr>
        <p:spPr>
          <a:xfrm>
            <a:off x="6355080" y="214884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start the run, or walk the manual ones</a:t>
            </a:r>
            <a:endParaRPr lang="en-US" sz="1300" dirty="0"/>
          </a:p>
        </p:txBody>
      </p:sp>
      <p:sp>
        <p:nvSpPr>
          <p:cNvPr id="10" name="Shape 8"/>
          <p:cNvSpPr/>
          <p:nvPr/>
        </p:nvSpPr>
        <p:spPr>
          <a:xfrm>
            <a:off x="640080" y="3200400"/>
            <a:ext cx="10927080" cy="914400"/>
          </a:xfrm>
          <a:prstGeom prst="rect">
            <a:avLst/>
          </a:prstGeom>
          <a:solidFill>
            <a:srgbClr val="EAEFF5"/>
          </a:solidFill>
          <a:ln/>
        </p:spPr>
      </p:sp>
      <p:sp>
        <p:nvSpPr>
          <p:cNvPr id="11" name="Shape 9"/>
          <p:cNvSpPr/>
          <p:nvPr/>
        </p:nvSpPr>
        <p:spPr>
          <a:xfrm>
            <a:off x="640080" y="3200400"/>
            <a:ext cx="82296" cy="914400"/>
          </a:xfrm>
          <a:prstGeom prst="rect">
            <a:avLst/>
          </a:prstGeom>
          <a:solidFill>
            <a:srgbClr val="2E5077"/>
          </a:solidFill>
          <a:ln/>
        </p:spPr>
      </p:sp>
      <p:sp>
        <p:nvSpPr>
          <p:cNvPr id="12" name="Text 10"/>
          <p:cNvSpPr/>
          <p:nvPr/>
        </p:nvSpPr>
        <p:spPr>
          <a:xfrm>
            <a:off x="960120" y="320040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.claude/skills/npm-upgrade/SKILL.md</a:t>
            </a:r>
            <a:endParaRPr lang="en-US" sz="1400" dirty="0"/>
          </a:p>
        </p:txBody>
      </p:sp>
      <p:sp>
        <p:nvSpPr>
          <p:cNvPr id="13" name="Text 11"/>
          <p:cNvSpPr/>
          <p:nvPr/>
        </p:nvSpPr>
        <p:spPr>
          <a:xfrm>
            <a:off x="6355080" y="320040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the phase and walker detail</a:t>
            </a:r>
            <a:endParaRPr lang="en-US" sz="1300" dirty="0"/>
          </a:p>
        </p:txBody>
      </p:sp>
      <p:sp>
        <p:nvSpPr>
          <p:cNvPr id="14" name="Shape 12"/>
          <p:cNvSpPr/>
          <p:nvPr/>
        </p:nvSpPr>
        <p:spPr>
          <a:xfrm>
            <a:off x="640080" y="4251960"/>
            <a:ext cx="10927080" cy="914400"/>
          </a:xfrm>
          <a:prstGeom prst="rect">
            <a:avLst/>
          </a:prstGeom>
          <a:solidFill>
            <a:srgbClr val="EAEFF5"/>
          </a:solidFill>
          <a:ln/>
        </p:spPr>
      </p:sp>
      <p:sp>
        <p:nvSpPr>
          <p:cNvPr id="15" name="Shape 13"/>
          <p:cNvSpPr/>
          <p:nvPr/>
        </p:nvSpPr>
        <p:spPr>
          <a:xfrm>
            <a:off x="640080" y="4251960"/>
            <a:ext cx="82296" cy="914400"/>
          </a:xfrm>
          <a:prstGeom prst="rect">
            <a:avLst/>
          </a:prstGeom>
          <a:solidFill>
            <a:srgbClr val="2E5077"/>
          </a:solidFill>
          <a:ln/>
        </p:spPr>
      </p:sp>
      <p:sp>
        <p:nvSpPr>
          <p:cNvPr id="16" name="Text 14"/>
          <p:cNvSpPr/>
          <p:nvPr/>
        </p:nvSpPr>
        <p:spPr>
          <a:xfrm>
            <a:off x="960120" y="425196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the counts / list view</a:t>
            </a:r>
            <a:endParaRPr lang="en-US" sz="1400" dirty="0"/>
          </a:p>
        </p:txBody>
      </p:sp>
      <p:sp>
        <p:nvSpPr>
          <p:cNvPr id="17" name="Text 15"/>
          <p:cNvSpPr/>
          <p:nvPr/>
        </p:nvSpPr>
        <p:spPr>
          <a:xfrm>
            <a:off x="6355080" y="425196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state at a glance: classification x status x risk</a:t>
            </a:r>
            <a:endParaRPr lang="en-US" sz="1300" dirty="0"/>
          </a:p>
        </p:txBody>
      </p:sp>
      <p:sp>
        <p:nvSpPr>
          <p:cNvPr id="18" name="Text 16"/>
          <p:cNvSpPr/>
          <p:nvPr/>
        </p:nvSpPr>
        <p:spPr>
          <a:xfrm>
            <a:off x="640080" y="53492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The SKILL.md is what the agent actually executes — it can't drift from reality.</a:t>
            </a:r>
            <a:endParaRPr lang="en-US" sz="130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WATCH IT RUN</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npm-upgrade end to end</a:t>
            </a:r>
            <a:endParaRPr lang="en-US" sz="2900" dirty="0"/>
          </a:p>
        </p:txBody>
      </p:sp>
      <p:sp>
        <p:nvSpPr>
          <p:cNvPr id="5" name="Text 3"/>
          <p:cNvSpPr/>
          <p:nvPr/>
        </p:nvSpPr>
        <p:spPr>
          <a:xfrm>
            <a:off x="640080" y="1536192"/>
            <a:ext cx="10927080" cy="411480"/>
          </a:xfrm>
          <a:prstGeom prst="rect">
            <a:avLst/>
          </a:prstGeom>
          <a:noFill/>
          <a:ln/>
        </p:spPr>
        <p:txBody>
          <a:bodyPr wrap="square" lIns="0" tIns="0" rIns="0" bIns="0" rtlCol="0" anchor="ctr"/>
          <a:lstStyle/>
          <a:p>
            <a:pPr indent="0" marL="0">
              <a:buNone/>
            </a:pPr>
            <a:r>
              <a:rPr lang="en-US" sz="1250" b="1" dirty="0">
                <a:solidFill>
                  <a:srgbClr val="64748B"/>
                </a:solidFill>
                <a:latin typeface="Arial" pitchFamily="34" charset="0"/>
                <a:ea typeface="Arial" pitchFamily="34" charset="-122"/>
                <a:cs typeface="Arial" pitchFamily="34" charset="-120"/>
              </a:rPr>
              <a:t>Trigger it:  </a:t>
            </a:r>
            <a:pPr indent="0" marL="0">
              <a:buNone/>
            </a:pPr>
            <a:r>
              <a:rPr lang="en-US" sz="1250" dirty="0">
                <a:solidFill>
                  <a:srgbClr val="2E5077"/>
                </a:solidFill>
                <a:latin typeface="Courier New" pitchFamily="34" charset="0"/>
                <a:ea typeface="Courier New" pitchFamily="34" charset="-122"/>
                <a:cs typeface="Courier New" pitchFamily="34" charset="-120"/>
              </a:rPr>
              <a:t>"upgrade npm deps" · "walk upgrade EUDPA-1234" · "implement upgrade EUDPA-1234"</a:t>
            </a:r>
            <a:endParaRPr lang="en-US" sz="1250" dirty="0"/>
          </a:p>
        </p:txBody>
      </p:sp>
      <p:sp>
        <p:nvSpPr>
          <p:cNvPr id="6" name="Shape 4"/>
          <p:cNvSpPr/>
          <p:nvPr/>
        </p:nvSpPr>
        <p:spPr>
          <a:xfrm>
            <a:off x="640080" y="2148840"/>
            <a:ext cx="10927080" cy="955548"/>
          </a:xfrm>
          <a:prstGeom prst="rect">
            <a:avLst/>
          </a:prstGeom>
          <a:solidFill>
            <a:srgbClr val="F1F5F9"/>
          </a:solidFill>
          <a:ln/>
        </p:spPr>
      </p:sp>
      <p:sp>
        <p:nvSpPr>
          <p:cNvPr id="7" name="Shape 5"/>
          <p:cNvSpPr/>
          <p:nvPr/>
        </p:nvSpPr>
        <p:spPr>
          <a:xfrm>
            <a:off x="896112" y="2425446"/>
            <a:ext cx="402336" cy="402336"/>
          </a:xfrm>
          <a:prstGeom prst="ellipse">
            <a:avLst/>
          </a:prstGeom>
          <a:solidFill>
            <a:srgbClr val="2E5077"/>
          </a:solidFill>
          <a:ln/>
        </p:spPr>
      </p:sp>
      <p:sp>
        <p:nvSpPr>
          <p:cNvPr id="8" name="Text 6"/>
          <p:cNvSpPr/>
          <p:nvPr/>
        </p:nvSpPr>
        <p:spPr>
          <a:xfrm>
            <a:off x="896112" y="242544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508760" y="2221992"/>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Phase 1 — discover &amp; classify</a:t>
            </a:r>
            <a:endParaRPr lang="en-US" sz="1450" dirty="0"/>
          </a:p>
        </p:txBody>
      </p:sp>
      <p:sp>
        <p:nvSpPr>
          <p:cNvPr id="10" name="Text 8"/>
          <p:cNvSpPr/>
          <p:nvPr/>
        </p:nvSpPr>
        <p:spPr>
          <a:xfrm>
            <a:off x="4343400" y="2221992"/>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on a ticket branch it finds every outdated package and classifies each as auto (no code change) or manual (breaking). It stops at a gate for you to approve.</a:t>
            </a:r>
            <a:endParaRPr lang="en-US" sz="1250" dirty="0"/>
          </a:p>
        </p:txBody>
      </p:sp>
      <p:sp>
        <p:nvSpPr>
          <p:cNvPr id="11" name="Shape 9"/>
          <p:cNvSpPr/>
          <p:nvPr/>
        </p:nvSpPr>
        <p:spPr>
          <a:xfrm>
            <a:off x="640080" y="3232404"/>
            <a:ext cx="10927080" cy="955548"/>
          </a:xfrm>
          <a:prstGeom prst="rect">
            <a:avLst/>
          </a:prstGeom>
          <a:solidFill>
            <a:srgbClr val="F1F5F9"/>
          </a:solidFill>
          <a:ln/>
        </p:spPr>
      </p:sp>
      <p:sp>
        <p:nvSpPr>
          <p:cNvPr id="12" name="Shape 10"/>
          <p:cNvSpPr/>
          <p:nvPr/>
        </p:nvSpPr>
        <p:spPr>
          <a:xfrm>
            <a:off x="896112" y="3509010"/>
            <a:ext cx="402336" cy="402336"/>
          </a:xfrm>
          <a:prstGeom prst="ellipse">
            <a:avLst/>
          </a:prstGeom>
          <a:solidFill>
            <a:srgbClr val="2E5077"/>
          </a:solidFill>
          <a:ln/>
        </p:spPr>
      </p:sp>
      <p:sp>
        <p:nvSpPr>
          <p:cNvPr id="13" name="Text 11"/>
          <p:cNvSpPr/>
          <p:nvPr/>
        </p:nvSpPr>
        <p:spPr>
          <a:xfrm>
            <a:off x="896112" y="3509010"/>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1508760" y="3305556"/>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Phase 2 — auto upgrades</a:t>
            </a:r>
            <a:endParaRPr lang="en-US" sz="1450" dirty="0"/>
          </a:p>
        </p:txBody>
      </p:sp>
      <p:sp>
        <p:nvSpPr>
          <p:cNvPr id="15" name="Text 13"/>
          <p:cNvSpPr/>
          <p:nvPr/>
        </p:nvSpPr>
        <p:spPr>
          <a:xfrm>
            <a:off x="4343400" y="3305556"/>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for each auto package: baseline test, bump, re-test, commit if green, roll back if not. Anything that breaks is demoted to manual. Another gate.</a:t>
            </a:r>
            <a:endParaRPr lang="en-US" sz="1250" dirty="0"/>
          </a:p>
        </p:txBody>
      </p:sp>
      <p:sp>
        <p:nvSpPr>
          <p:cNvPr id="16" name="Shape 14"/>
          <p:cNvSpPr/>
          <p:nvPr/>
        </p:nvSpPr>
        <p:spPr>
          <a:xfrm>
            <a:off x="640080" y="4315968"/>
            <a:ext cx="10927080" cy="955548"/>
          </a:xfrm>
          <a:prstGeom prst="rect">
            <a:avLst/>
          </a:prstGeom>
          <a:solidFill>
            <a:srgbClr val="F1F5F9"/>
          </a:solidFill>
          <a:ln/>
        </p:spPr>
      </p:sp>
      <p:sp>
        <p:nvSpPr>
          <p:cNvPr id="17" name="Shape 15"/>
          <p:cNvSpPr/>
          <p:nvPr/>
        </p:nvSpPr>
        <p:spPr>
          <a:xfrm>
            <a:off x="896112" y="4592574"/>
            <a:ext cx="402336" cy="402336"/>
          </a:xfrm>
          <a:prstGeom prst="ellipse">
            <a:avLst/>
          </a:prstGeom>
          <a:solidFill>
            <a:srgbClr val="2E5077"/>
          </a:solidFill>
          <a:ln/>
        </p:spPr>
      </p:sp>
      <p:sp>
        <p:nvSpPr>
          <p:cNvPr id="18" name="Text 16"/>
          <p:cNvSpPr/>
          <p:nvPr/>
        </p:nvSpPr>
        <p:spPr>
          <a:xfrm>
            <a:off x="896112" y="459257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1508760" y="4389120"/>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Phase 3 — handoff</a:t>
            </a:r>
            <a:endParaRPr lang="en-US" sz="1450" dirty="0"/>
          </a:p>
        </p:txBody>
      </p:sp>
      <p:sp>
        <p:nvSpPr>
          <p:cNvPr id="20" name="Text 18"/>
          <p:cNvSpPr/>
          <p:nvPr/>
        </p:nvSpPr>
        <p:spPr>
          <a:xfrm>
            <a:off x="4343400" y="4389120"/>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it produces a single list of everything left for a human — the manual ones plus any auto that failed.</a:t>
            </a:r>
            <a:endParaRPr lang="en-US" sz="1250" dirty="0"/>
          </a:p>
        </p:txBody>
      </p:sp>
      <p:sp>
        <p:nvSpPr>
          <p:cNvPr id="21" name="Shape 19"/>
          <p:cNvSpPr/>
          <p:nvPr/>
        </p:nvSpPr>
        <p:spPr>
          <a:xfrm>
            <a:off x="640080" y="5399532"/>
            <a:ext cx="10927080" cy="955548"/>
          </a:xfrm>
          <a:prstGeom prst="rect">
            <a:avLst/>
          </a:prstGeom>
          <a:solidFill>
            <a:srgbClr val="F1F5F9"/>
          </a:solidFill>
          <a:ln/>
        </p:spPr>
      </p:sp>
      <p:sp>
        <p:nvSpPr>
          <p:cNvPr id="22" name="Shape 20"/>
          <p:cNvSpPr/>
          <p:nvPr/>
        </p:nvSpPr>
        <p:spPr>
          <a:xfrm>
            <a:off x="896112" y="5676138"/>
            <a:ext cx="402336" cy="402336"/>
          </a:xfrm>
          <a:prstGeom prst="ellipse">
            <a:avLst/>
          </a:prstGeom>
          <a:solidFill>
            <a:srgbClr val="2E5077"/>
          </a:solidFill>
          <a:ln/>
        </p:spPr>
      </p:sp>
      <p:sp>
        <p:nvSpPr>
          <p:cNvPr id="23" name="Text 21"/>
          <p:cNvSpPr/>
          <p:nvPr/>
        </p:nvSpPr>
        <p:spPr>
          <a:xfrm>
            <a:off x="896112" y="567613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1508760" y="5472684"/>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Walk the manual ones</a:t>
            </a:r>
            <a:endParaRPr lang="en-US" sz="1450" dirty="0"/>
          </a:p>
        </p:txBody>
      </p:sp>
      <p:sp>
        <p:nvSpPr>
          <p:cNvPr id="25" name="Text 23"/>
          <p:cNvSpPr/>
          <p:nvPr/>
        </p:nvSpPr>
        <p:spPr>
          <a:xfrm>
            <a:off x="4343400" y="5472684"/>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one keystroke-driven table: I to implement (a worker edits, tests, commits), D to defer to a follow-up, S to skip.</a:t>
            </a:r>
            <a:endParaRPr lang="en-US" sz="1250" dirty="0"/>
          </a:p>
        </p:txBody>
      </p:sp>
      <p:sp>
        <p:nvSpPr>
          <p:cNvPr id="26" name="Text 24"/>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27" name="Text 25"/>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READING THE OUTPUT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What it produces</a:t>
            </a:r>
            <a:endParaRPr lang="en-US" sz="2900" dirty="0"/>
          </a:p>
        </p:txBody>
      </p:sp>
      <p:sp>
        <p:nvSpPr>
          <p:cNvPr id="5" name="Text 3"/>
          <p:cNvSpPr/>
          <p:nvPr/>
        </p:nvSpPr>
        <p:spPr>
          <a:xfrm>
            <a:off x="640080" y="1554480"/>
            <a:ext cx="10789920" cy="41148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Per-repo state plus real (unpushed) commits.</a:t>
            </a:r>
            <a:endParaRPr lang="en-US" sz="1500" dirty="0"/>
          </a:p>
        </p:txBody>
      </p:sp>
      <p:sp>
        <p:nvSpPr>
          <p:cNvPr id="6" name="Shape 4"/>
          <p:cNvSpPr/>
          <p:nvPr/>
        </p:nvSpPr>
        <p:spPr>
          <a:xfrm>
            <a:off x="640080" y="2148840"/>
            <a:ext cx="10927080" cy="1289304"/>
          </a:xfrm>
          <a:prstGeom prst="rect">
            <a:avLst/>
          </a:prstGeom>
          <a:solidFill>
            <a:srgbClr val="F1F5F9"/>
          </a:solidFill>
          <a:ln/>
        </p:spPr>
      </p:sp>
      <p:sp>
        <p:nvSpPr>
          <p:cNvPr id="7" name="Shape 5"/>
          <p:cNvSpPr/>
          <p:nvPr/>
        </p:nvSpPr>
        <p:spPr>
          <a:xfrm>
            <a:off x="640080" y="2148840"/>
            <a:ext cx="82296" cy="1289304"/>
          </a:xfrm>
          <a:prstGeom prst="rect">
            <a:avLst/>
          </a:prstGeom>
          <a:solidFill>
            <a:srgbClr val="2E5077"/>
          </a:solidFill>
          <a:ln/>
        </p:spPr>
      </p:sp>
      <p:sp>
        <p:nvSpPr>
          <p:cNvPr id="8" name="Text 6"/>
          <p:cNvSpPr/>
          <p:nvPr/>
        </p:nvSpPr>
        <p:spPr>
          <a:xfrm>
            <a:off x="960120" y="2194560"/>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packages.&lt;repo&gt;.json</a:t>
            </a:r>
            <a:endParaRPr lang="en-US" sz="1300" dirty="0"/>
          </a:p>
        </p:txBody>
      </p:sp>
      <p:sp>
        <p:nvSpPr>
          <p:cNvPr id="9" name="Text 7"/>
          <p:cNvSpPr/>
          <p:nvPr/>
        </p:nvSpPr>
        <p:spPr>
          <a:xfrm>
            <a:off x="5303520" y="2194560"/>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one row per package — classification, risk, status, commit SHA</a:t>
            </a:r>
            <a:endParaRPr lang="en-US" sz="1250" dirty="0"/>
          </a:p>
        </p:txBody>
      </p:sp>
      <p:sp>
        <p:nvSpPr>
          <p:cNvPr id="10" name="Shape 8"/>
          <p:cNvSpPr/>
          <p:nvPr/>
        </p:nvSpPr>
        <p:spPr>
          <a:xfrm>
            <a:off x="640080" y="3584448"/>
            <a:ext cx="10927080" cy="1289304"/>
          </a:xfrm>
          <a:prstGeom prst="rect">
            <a:avLst/>
          </a:prstGeom>
          <a:solidFill>
            <a:srgbClr val="F1F5F9"/>
          </a:solidFill>
          <a:ln/>
        </p:spPr>
      </p:sp>
      <p:sp>
        <p:nvSpPr>
          <p:cNvPr id="11" name="Shape 9"/>
          <p:cNvSpPr/>
          <p:nvPr/>
        </p:nvSpPr>
        <p:spPr>
          <a:xfrm>
            <a:off x="640080" y="3584448"/>
            <a:ext cx="82296" cy="1289304"/>
          </a:xfrm>
          <a:prstGeom prst="rect">
            <a:avLst/>
          </a:prstGeom>
          <a:solidFill>
            <a:srgbClr val="2E5077"/>
          </a:solidFill>
          <a:ln/>
        </p:spPr>
      </p:sp>
      <p:sp>
        <p:nvSpPr>
          <p:cNvPr id="12" name="Text 10"/>
          <p:cNvSpPr/>
          <p:nvPr/>
        </p:nvSpPr>
        <p:spPr>
          <a:xfrm>
            <a:off x="960120" y="3630168"/>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feature/EUDPA-X-npm-...</a:t>
            </a:r>
            <a:endParaRPr lang="en-US" sz="1300" dirty="0"/>
          </a:p>
        </p:txBody>
      </p:sp>
      <p:sp>
        <p:nvSpPr>
          <p:cNvPr id="13" name="Text 11"/>
          <p:cNvSpPr/>
          <p:nvPr/>
        </p:nvSpPr>
        <p:spPr>
          <a:xfrm>
            <a:off x="5303520" y="3630168"/>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branch per repo, one commit per successful upgrade</a:t>
            </a:r>
            <a:endParaRPr lang="en-US" sz="1250" dirty="0"/>
          </a:p>
        </p:txBody>
      </p:sp>
      <p:sp>
        <p:nvSpPr>
          <p:cNvPr id="14" name="Shape 12"/>
          <p:cNvSpPr/>
          <p:nvPr/>
        </p:nvSpPr>
        <p:spPr>
          <a:xfrm>
            <a:off x="640080" y="5020056"/>
            <a:ext cx="10927080" cy="1289304"/>
          </a:xfrm>
          <a:prstGeom prst="rect">
            <a:avLst/>
          </a:prstGeom>
          <a:solidFill>
            <a:srgbClr val="F1F5F9"/>
          </a:solidFill>
          <a:ln/>
        </p:spPr>
      </p:sp>
      <p:sp>
        <p:nvSpPr>
          <p:cNvPr id="15" name="Shape 13"/>
          <p:cNvSpPr/>
          <p:nvPr/>
        </p:nvSpPr>
        <p:spPr>
          <a:xfrm>
            <a:off x="640080" y="5020056"/>
            <a:ext cx="82296" cy="1289304"/>
          </a:xfrm>
          <a:prstGeom prst="rect">
            <a:avLst/>
          </a:prstGeom>
          <a:solidFill>
            <a:srgbClr val="2E5077"/>
          </a:solidFill>
          <a:ln/>
        </p:spPr>
      </p:sp>
      <p:sp>
        <p:nvSpPr>
          <p:cNvPr id="16" name="Text 14"/>
          <p:cNvSpPr/>
          <p:nvPr/>
        </p:nvSpPr>
        <p:spPr>
          <a:xfrm>
            <a:off x="960120" y="5065776"/>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the gate reports</a:t>
            </a:r>
            <a:endParaRPr lang="en-US" sz="1300" dirty="0"/>
          </a:p>
        </p:txBody>
      </p:sp>
      <p:sp>
        <p:nvSpPr>
          <p:cNvPr id="17" name="Text 15"/>
          <p:cNvSpPr/>
          <p:nvPr/>
        </p:nvSpPr>
        <p:spPr>
          <a:xfrm>
            <a:off x="5303520" y="5065776"/>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presented verbatim at each phase boundary for you to approve</a:t>
            </a:r>
            <a:endParaRPr lang="en-US" sz="1250" dirty="0"/>
          </a:p>
        </p:txBody>
      </p:sp>
      <p:sp>
        <p:nvSpPr>
          <p:cNvPr id="18" name="Text 16"/>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19" name="Text 17"/>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HOW YOU USE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npm-upgrade in your workflow</a:t>
            </a:r>
            <a:endParaRPr lang="en-US" sz="2900" dirty="0"/>
          </a:p>
        </p:txBody>
      </p:sp>
      <p:sp>
        <p:nvSpPr>
          <p:cNvPr id="5" name="Shape 3"/>
          <p:cNvSpPr/>
          <p:nvPr/>
        </p:nvSpPr>
        <p:spPr>
          <a:xfrm>
            <a:off x="640080" y="1965960"/>
            <a:ext cx="10927080" cy="1222248"/>
          </a:xfrm>
          <a:prstGeom prst="rect">
            <a:avLst/>
          </a:prstGeom>
          <a:solidFill>
            <a:srgbClr val="F1F5F9"/>
          </a:solidFill>
          <a:ln/>
        </p:spPr>
      </p:sp>
      <p:sp>
        <p:nvSpPr>
          <p:cNvPr id="6" name="Shape 4"/>
          <p:cNvSpPr/>
          <p:nvPr/>
        </p:nvSpPr>
        <p:spPr>
          <a:xfrm>
            <a:off x="640080" y="1965960"/>
            <a:ext cx="82296" cy="1222248"/>
          </a:xfrm>
          <a:prstGeom prst="rect">
            <a:avLst/>
          </a:prstGeom>
          <a:solidFill>
            <a:srgbClr val="2E5077"/>
          </a:solidFill>
          <a:ln/>
        </p:spPr>
      </p:sp>
      <p:sp>
        <p:nvSpPr>
          <p:cNvPr id="7" name="Text 5"/>
          <p:cNvSpPr/>
          <p:nvPr/>
        </p:nvSpPr>
        <p:spPr>
          <a:xfrm>
            <a:off x="960120" y="2011680"/>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Reach for it when</a:t>
            </a:r>
            <a:endParaRPr lang="en-US" sz="1500" dirty="0"/>
          </a:p>
        </p:txBody>
      </p:sp>
      <p:sp>
        <p:nvSpPr>
          <p:cNvPr id="8" name="Text 6"/>
          <p:cNvSpPr/>
          <p:nvPr/>
        </p:nvSpPr>
        <p:spPr>
          <a:xfrm>
            <a:off x="4251960" y="2011680"/>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you're on a dependency-refresh ticket and want the safe bumps off your plate</a:t>
            </a:r>
            <a:endParaRPr lang="en-US" sz="1300" dirty="0"/>
          </a:p>
        </p:txBody>
      </p:sp>
      <p:sp>
        <p:nvSpPr>
          <p:cNvPr id="9" name="Shape 7"/>
          <p:cNvSpPr/>
          <p:nvPr/>
        </p:nvSpPr>
        <p:spPr>
          <a:xfrm>
            <a:off x="640080" y="3389376"/>
            <a:ext cx="10927080" cy="1222248"/>
          </a:xfrm>
          <a:prstGeom prst="rect">
            <a:avLst/>
          </a:prstGeom>
          <a:solidFill>
            <a:srgbClr val="F1F5F9"/>
          </a:solidFill>
          <a:ln/>
        </p:spPr>
      </p:sp>
      <p:sp>
        <p:nvSpPr>
          <p:cNvPr id="10" name="Shape 8"/>
          <p:cNvSpPr/>
          <p:nvPr/>
        </p:nvSpPr>
        <p:spPr>
          <a:xfrm>
            <a:off x="640080" y="3389376"/>
            <a:ext cx="82296" cy="1222248"/>
          </a:xfrm>
          <a:prstGeom prst="rect">
            <a:avLst/>
          </a:prstGeom>
          <a:solidFill>
            <a:srgbClr val="2E5077"/>
          </a:solidFill>
          <a:ln/>
        </p:spPr>
      </p:sp>
      <p:sp>
        <p:nvSpPr>
          <p:cNvPr id="11" name="Text 9"/>
          <p:cNvSpPr/>
          <p:nvPr/>
        </p:nvSpPr>
        <p:spPr>
          <a:xfrm>
            <a:off x="960120" y="3435096"/>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Where you decide</a:t>
            </a:r>
            <a:endParaRPr lang="en-US" sz="1500" dirty="0"/>
          </a:p>
        </p:txBody>
      </p:sp>
      <p:sp>
        <p:nvSpPr>
          <p:cNvPr id="12" name="Text 10"/>
          <p:cNvSpPr/>
          <p:nvPr/>
        </p:nvSpPr>
        <p:spPr>
          <a:xfrm>
            <a:off x="4251960" y="3435096"/>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two phase gates plus the manual walk — you approve before anything proceeds</a:t>
            </a:r>
            <a:endParaRPr lang="en-US" sz="1300" dirty="0"/>
          </a:p>
        </p:txBody>
      </p:sp>
      <p:sp>
        <p:nvSpPr>
          <p:cNvPr id="13" name="Shape 11"/>
          <p:cNvSpPr/>
          <p:nvPr/>
        </p:nvSpPr>
        <p:spPr>
          <a:xfrm>
            <a:off x="640080" y="4812792"/>
            <a:ext cx="10927080" cy="1222248"/>
          </a:xfrm>
          <a:prstGeom prst="rect">
            <a:avLst/>
          </a:prstGeom>
          <a:solidFill>
            <a:srgbClr val="F1F5F9"/>
          </a:solidFill>
          <a:ln/>
        </p:spPr>
      </p:sp>
      <p:sp>
        <p:nvSpPr>
          <p:cNvPr id="14" name="Shape 12"/>
          <p:cNvSpPr/>
          <p:nvPr/>
        </p:nvSpPr>
        <p:spPr>
          <a:xfrm>
            <a:off x="640080" y="4812792"/>
            <a:ext cx="82296" cy="1222248"/>
          </a:xfrm>
          <a:prstGeom prst="rect">
            <a:avLst/>
          </a:prstGeom>
          <a:solidFill>
            <a:srgbClr val="2E5077"/>
          </a:solidFill>
          <a:ln/>
        </p:spPr>
      </p:sp>
      <p:sp>
        <p:nvSpPr>
          <p:cNvPr id="15" name="Text 13"/>
          <p:cNvSpPr/>
          <p:nvPr/>
        </p:nvSpPr>
        <p:spPr>
          <a:xfrm>
            <a:off x="960120" y="4858512"/>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How it fits</a:t>
            </a:r>
            <a:endParaRPr lang="en-US" sz="1500" dirty="0"/>
          </a:p>
        </p:txBody>
      </p:sp>
      <p:sp>
        <p:nvSpPr>
          <p:cNvPr id="16" name="Text 14"/>
          <p:cNvSpPr/>
          <p:nvPr/>
        </p:nvSpPr>
        <p:spPr>
          <a:xfrm>
            <a:off x="4251960" y="4858512"/>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use govuk-upgrade for govuk-frontend; this covers everything else</a:t>
            </a:r>
            <a:endParaRPr lang="en-US" sz="1300" dirty="0"/>
          </a:p>
        </p:txBody>
      </p:sp>
      <p:sp>
        <p:nvSpPr>
          <p:cNvPr id="17" name="Text 15"/>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18" name="Text 16"/>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TRY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Have a go yourself</a:t>
            </a:r>
            <a:endParaRPr lang="en-US" sz="2900" dirty="0"/>
          </a:p>
        </p:txBody>
      </p:sp>
      <p:sp>
        <p:nvSpPr>
          <p:cNvPr id="5" name="Shape 3"/>
          <p:cNvSpPr/>
          <p:nvPr/>
        </p:nvSpPr>
        <p:spPr>
          <a:xfrm>
            <a:off x="640080" y="2011680"/>
            <a:ext cx="10927080" cy="2194560"/>
          </a:xfrm>
          <a:prstGeom prst="rect">
            <a:avLst/>
          </a:prstGeom>
          <a:solidFill>
            <a:srgbClr val="EAEFF5"/>
          </a:solidFill>
          <a:ln/>
        </p:spPr>
      </p:sp>
      <p:sp>
        <p:nvSpPr>
          <p:cNvPr id="6" name="Shape 4"/>
          <p:cNvSpPr/>
          <p:nvPr/>
        </p:nvSpPr>
        <p:spPr>
          <a:xfrm>
            <a:off x="640080" y="2011680"/>
            <a:ext cx="109728" cy="2194560"/>
          </a:xfrm>
          <a:prstGeom prst="rect">
            <a:avLst/>
          </a:prstGeom>
          <a:solidFill>
            <a:srgbClr val="2E5077"/>
          </a:solidFill>
          <a:ln/>
        </p:spPr>
      </p:sp>
      <p:sp>
        <p:nvSpPr>
          <p:cNvPr id="7" name="Text 5"/>
          <p:cNvSpPr/>
          <p:nvPr/>
        </p:nvSpPr>
        <p:spPr>
          <a:xfrm>
            <a:off x="1097280" y="2286000"/>
            <a:ext cx="10058400" cy="1645920"/>
          </a:xfrm>
          <a:prstGeom prst="rect">
            <a:avLst/>
          </a:prstGeom>
          <a:noFill/>
          <a:ln/>
        </p:spPr>
        <p:txBody>
          <a:bodyPr wrap="square" lIns="0" tIns="0" rIns="0" bIns="0" rtlCol="0" anchor="t"/>
          <a:lstStyle/>
          <a:p>
            <a:pPr indent="0" marL="0">
              <a:buNone/>
            </a:pPr>
            <a:r>
              <a:rPr lang="en-US" sz="1700" dirty="0">
                <a:solidFill>
                  <a:srgbClr val="0F172A"/>
                </a:solidFill>
                <a:latin typeface="Arial" pitchFamily="34" charset="0"/>
                <a:ea typeface="Arial" pitchFamily="34" charset="-122"/>
                <a:cs typeface="Arial" pitchFamily="34" charset="-120"/>
              </a:rPr>
              <a:t>On a repo checked out to a ticket branch, say "upgrade npm deps" and stop at the Phase 1 gate to inspect the auto-vs-manual split before it touches anything.</a:t>
            </a:r>
            <a:endParaRPr lang="en-US" sz="1700" dirty="0"/>
          </a:p>
        </p:txBody>
      </p:sp>
      <p:sp>
        <p:nvSpPr>
          <p:cNvPr id="8" name="Text 6"/>
          <p:cNvSpPr/>
          <p:nvPr/>
        </p:nvSpPr>
        <p:spPr>
          <a:xfrm>
            <a:off x="640080" y="6217920"/>
            <a:ext cx="10515600" cy="365760"/>
          </a:xfrm>
          <a:prstGeom prst="rect">
            <a:avLst/>
          </a:prstGeom>
          <a:noFill/>
          <a:ln/>
        </p:spPr>
        <p:txBody>
          <a:bodyPr wrap="square" lIns="0" tIns="0" rIns="0" bIns="0" rtlCol="0" anchor="ctr"/>
          <a:lstStyle/>
          <a:p>
            <a:pPr indent="0" marL="0">
              <a:buNone/>
            </a:pPr>
            <a:r>
              <a:rPr lang="en-US" sz="1400" b="1" dirty="0">
                <a:solidFill>
                  <a:srgbClr val="22405F"/>
                </a:solidFill>
                <a:latin typeface="Arial" pitchFamily="34" charset="0"/>
                <a:ea typeface="Arial" pitchFamily="34" charset="-122"/>
                <a:cs typeface="Arial" pitchFamily="34" charset="-120"/>
              </a:rPr>
              <a:t>Next: Session 7 — the govuk-upgrade skill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6 — npm-upgrade</dc:title>
  <dc:subject>PptxGenJS Presentation</dc:subject>
  <dc:creator>PptxGenJS</dc:creator>
  <cp:lastModifiedBy>PptxGenJS</cp:lastModifiedBy>
  <cp:revision>1</cp:revision>
  <dcterms:created xsi:type="dcterms:W3CDTF">2026-08-18T19:27:25Z</dcterms:created>
  <dcterms:modified xsi:type="dcterms:W3CDTF">2026-08-18T19:27:25Z</dcterms:modified>
</cp:coreProperties>
</file>